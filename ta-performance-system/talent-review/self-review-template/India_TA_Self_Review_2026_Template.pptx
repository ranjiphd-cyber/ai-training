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 here" id="{32027b81-176e-149a-0595-95cd3fc4e5b7}">
          <p14:sldIdLst>
            <p14:sldId id="256"/>
            <p14:sldId id="257"/>
          </p14:sldIdLst>
        </p14:section>
        <p14:section name="Everyone" id="{395fdb1f-4ef4-b755-ddd7-0376793b38e3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eam leads" id="{a5816d14-e55b-f3b4-c0ab-a158b354a58f}">
          <p14:sldIdLst>
            <p14:sldId id="269"/>
            <p14:sldId id="270"/>
            <p14:sldId id="271"/>
          </p14:sldIdLst>
        </p14:section>
        <p14:section name="Support roles" id="{32fbe0f4-6298-e993-0094-5f265ef303af}">
          <p14:sldIdLst>
            <p14:sldId id="272"/>
            <p14:sldId id="273"/>
            <p14:sldId id="274"/>
          </p14:sldIdLst>
        </p14:section>
        <p14:section name="Sign-off" id="{d6e13b8e-0d0d-0595-99a6-f406a898e2e7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73152" cy="2194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2A7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Shape 0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India TA Self-Review 2026  ·  Please keep slide titles, form codes and grey labels unchanged; type only in the yellow cells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India TA Self-Review 2026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Submission template for recruiters, sourcers, team leads and support roles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</a:rPr>
              <a:t>Fill in, save as  Name_VCNID_SelfReview2026.pptx  and send to the TA Head</a:t>
            </a:r>
            <a:endParaRPr lang="en-US" sz="1800" dirty="0"/>
          </a:p>
        </p:txBody>
      </p:sp>
      <p:sp>
        <p:nvSpPr>
          <p:cNvPr id="4" name="return-by"/>
          <p:cNvSpPr txBox="1"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Return by: 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How to complete this template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About 60–90 minutes. Be specific: numbers, names of programmes, dates and examples.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A1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sp>
        <p:nvSpPr>
          <p:cNvPr id="7" name="instructions"/>
          <p:cNvSpPr txBox="1"/>
          <p:nvPr/>
        </p:nvSpPr>
        <p:spPr>
          <a:xfrm>
            <a:off x="457200" y="1325880"/>
            <a:ext cx="603504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3"/>
                </a:solidFill>
              </a:rPr>
              <a:t>Type only in the yellow cells. Replace the grey example text; delete it if a cell does not apply.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3"/>
                </a:solidFill>
              </a:rPr>
              <a:t>Do not rename slides, change the form codes (top right) or edit the grey labels: your answers are read back by form code and label.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3"/>
                </a:solidFill>
              </a:rPr>
              <a:t>Add rows only by copying an existing yellow row. If you need more space, duplicate the slide and keep its code.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3"/>
                </a:solidFill>
              </a:rPr>
              <a:t>Ratings are whole numbers 1 to 5. Dates as DD-MM-YYYY. Percentages as numbers (for example 92).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3"/>
                </a:solidFill>
              </a:rPr>
              <a:t>Skip the slides that are not for your role (see the table), but do not delete them.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3"/>
                </a:solidFill>
              </a:rPr>
              <a:t>Hiring numbers you report are a cross-check: they are reconciled with SuccessFactors and the scorecard, not used in place of them.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B2333"/>
                </a:solidFill>
              </a:rPr>
              <a:t>Save as Name_VCNID_SelfReview2026.pptx and send it to the TA Head by the return date.</a:t>
            </a:r>
            <a:endParaRPr lang="en-US" sz="1300" dirty="0"/>
          </a:p>
        </p:txBody>
      </p:sp>
      <p:graphicFrame>
        <p:nvGraphicFramePr>
          <p:cNvPr id="3" name="role-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25880"/>
          <a:ext cx="496519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176272"/>
                <a:gridCol w="822960"/>
                <a:gridCol w="64008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Slide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Recruiter / sourcer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 lead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Profile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Hiring delivery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S3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Hiring quality and notable hires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University relations and pipeline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if any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S5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Projects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S6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Learning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S7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Behaviours self-rating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S8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Achievements and support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S9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Development plan 2027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S10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Career and promotion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S11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Points system feedback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optional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L1–L2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Team and leadership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O1–O2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KPI and SLA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Z1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Sign-off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Profile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Who you are and what you cover. Used to match your submission to your dashboard record.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4" name="profi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82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Your entry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As in SuccessFactors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VCNID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For example A123456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Recruiter / Sourcer / Team Lead / Support / Operations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Team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DTO+ / TTI / VCE + Leadership / GTP / Operations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Reporting lead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Level (SG)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For example SG6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In current role since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DD-MM-YYYY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Business areas and hiring managers you serve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Main business areas, sites and key hiring managers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P4P rating 2024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Exceptional / High / Good / Adequate / 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P4P rating 2025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Exceptional / High / Good / Adequate / 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Hiring delivery 2026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Offers and joiners by category, 1 Jan 2026 to the date below. Reconciled with SuccessFactors.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Recruiters, sourcers and team leads</a:t>
            </a:r>
            <a:endParaRPr lang="en-US" sz="1000" dirty="0"/>
          </a:p>
        </p:txBody>
      </p:sp>
      <p:graphicFrame>
        <p:nvGraphicFramePr>
          <p:cNvPr id="5" name="delive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1463040"/>
                <a:gridCol w="1371600"/>
                <a:gridCol w="4050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Offers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Joined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which women (offers)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positions now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Comment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Lateral SG1-SG4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Lateral SG5-SG8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SG9 and above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FTC (new hire)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FTC Conversion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Contract Conversion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NATS Hiring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NATS Conversion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ExcelHER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ExcelHER Conversion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GET / PGET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AICTE Professor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PhD Internship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Internship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333"/>
                          </a:solidFill>
                        </a:rPr>
                        <a:t>Other (name it)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8" name="asof"/>
          <p:cNvSpPr txBox="1"/>
          <p:nvPr/>
        </p:nvSpPr>
        <p:spPr>
          <a:xfrm>
            <a:off x="4572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33"/>
                </a:solidFill>
              </a:rPr>
              <a:t>Data up to (date):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highlight>
                  <a:srgbClr val="FFF6D6"/>
                </a:highlight>
              </a:rPr>
              <a:t>DD-MM-YYYY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Hiring quality and notable hires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Your own figures for 2026, then up to four hires you are proudest of.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Recruiters, sourcers and team leads</a:t>
            </a:r>
            <a:endParaRPr lang="en-US" sz="1000" dirty="0"/>
          </a:p>
        </p:txBody>
      </p:sp>
      <p:graphicFrame>
        <p:nvGraphicFramePr>
          <p:cNvPr id="6" name="qualit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7548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Measure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Your figure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Average days requisition to offer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Average days offer to joining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Offer-to-join ratio (%)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Hires through vendors (count)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Hires through employee referrals (count)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Offers declined or reneged (count)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and the main reasons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notable-hi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325880"/>
          <a:ext cx="62453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 hired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Business area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 it mattered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 example Principal Engineer, SG9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Niche skill, time pressure, diversity, stakeholder impact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University relations and talent pipeline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Programmes you ran or supported: NATS, ExcelHER, campus GET / PGET, interns, AICTE, PhD, campus ambassador, faculty programmes.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Recruiters, sourcers and team leads; support if any</a:t>
            </a:r>
            <a:endParaRPr lang="en-US" sz="1000" dirty="0"/>
          </a:p>
        </p:txBody>
      </p:sp>
      <p:graphicFrame>
        <p:nvGraphicFramePr>
          <p:cNvPr id="7" name="program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3657600"/>
                <a:gridCol w="2377440"/>
                <a:gridCol w="15819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Programme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Your role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you did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Outcome (numbers)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 example ExcelHER 2026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Owner / support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Campus drives, assessments, onboarding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Offers, joiners, colleges covered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Completed / in progress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Projects and process improvement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Projects you own or contribute to. Pillar: Unleash Human Potential / People Experience / Data-Driven Insights / Sustainable Operational Excellence.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S5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8" name="projec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  <a:gridCol w="1280160"/>
                <a:gridCol w="1828800"/>
                <a:gridCol w="173736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Your role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Pillar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Problem or aim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Metric: baseline → target → actual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Done so far and what remains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</a:rPr>
                        <a:t>Owner / contributor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</a:rPr>
                        <a:t>Not started / In progress / On track / Completed / On hold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</a:rPr>
                        <a:t>For example offer days 60 → 50 → 54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Learning and certifications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Courses taken in 2026 and planned for 2027, and how you used what you learned.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S6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9" name="learn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280160"/>
                <a:gridCol w="1097280"/>
                <a:gridCol w="914400"/>
                <a:gridCol w="38679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Course or programme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Completed 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Certificate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How you applied it at work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Exact course name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For example LinkedIn Learning, Coursera, internal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Planned / In progress / Completed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DD-MM-YYYY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Yes / No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One concrete example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Behaviours self-rating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Rate yourself 1 to 5 on each competency and give one specific 2026 example as evidence.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S7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10" name="behaviou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Competency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Self-rating (1–5)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Evidence: situation, what you did, result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Delivery Ownership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Stakeholder Management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Talent Advisory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Market Intelligence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Data &amp; Analytics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Assessment Capability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Digital &amp; AI Capability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Collaboration &amp; Leadership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8" name="scale-card"/>
          <p:cNvSpPr/>
          <p:nvPr/>
        </p:nvSpPr>
        <p:spPr>
          <a:xfrm>
            <a:off x="9281160" y="1325880"/>
            <a:ext cx="2450592" cy="4754880"/>
          </a:xfrm>
          <a:prstGeom prst="roundRect">
            <a:avLst>
              <a:gd name="adj" fmla="val 3731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9" name="scale"/>
          <p:cNvSpPr txBox="1"/>
          <p:nvPr/>
        </p:nvSpPr>
        <p:spPr>
          <a:xfrm>
            <a:off x="9418320" y="1463040"/>
            <a:ext cx="2194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Rating guide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A7F8F"/>
                </a:solidFill>
              </a:rPr>
              <a:t>5  </a:t>
            </a:r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Role model: others learn from you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A7F8F"/>
                </a:solidFill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Strong: consistently above the role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A7F8F"/>
                </a:solidFill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Fully meets the role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A7F8F"/>
                </a:solidFill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Developing: sometimes meets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A7F8F"/>
                </a:solidFill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</a:rPr>
              <a:t>Not yet shown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Achievements, challenges and support needed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Three to five points in each column. Be concrete.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S8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11" name="col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630168" cy="914400"/>
        </p:xfrm>
        <a:graphic>
          <a:graphicData uri="http://schemas.openxmlformats.org/drawingml/2006/table">
            <a:tbl>
              <a:tblPr/>
              <a:tblGrid>
                <a:gridCol w="363016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 achievements 2026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What you delivered and the impact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ol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79392" y="1325880"/>
          <a:ext cx="3630168" cy="914400"/>
        </p:xfrm>
        <a:graphic>
          <a:graphicData uri="http://schemas.openxmlformats.org/drawingml/2006/table">
            <a:tbl>
              <a:tblPr/>
              <a:tblGrid>
                <a:gridCol w="363016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Challenges faced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What got in the way and how you handled it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col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01584" y="1325880"/>
          <a:ext cx="3630168" cy="914400"/>
        </p:xfrm>
        <a:graphic>
          <a:graphicData uri="http://schemas.openxmlformats.org/drawingml/2006/table">
            <a:tbl>
              <a:tblPr/>
              <a:tblGrid>
                <a:gridCol w="363016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Support I need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From the TA Head, my lead, the business or tools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Development plan 2027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Three to five actions. Each needs a measure of success and a target date.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S9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12" name="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554480"/>
                <a:gridCol w="2194560"/>
                <a:gridCol w="1097280"/>
                <a:gridCol w="1764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Competency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Measure of success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Target date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Support needed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For example lead the 2027 GET campus drive end to end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Development action / Area for improvement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One of the 8 in S7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For example 40 offers, 85% join rate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DD-MM-YYYY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Career and promotion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Your view. The TA Head decides against the promotion criteria on the right.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S10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13" name="care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Your answer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Role you aspire to next, and when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Why you are ready, or what you still need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Leadership evidence in 2026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Mentoring, leading a drive or project, standing in for your lead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Mobility (other teams, locations, roles)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Anything else for the TA Head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8" name="criteria-card"/>
          <p:cNvSpPr/>
          <p:nvPr/>
        </p:nvSpPr>
        <p:spPr>
          <a:xfrm>
            <a:off x="8366760" y="1325880"/>
            <a:ext cx="3364992" cy="4754880"/>
          </a:xfrm>
          <a:prstGeom prst="roundRect">
            <a:avLst>
              <a:gd name="adj" fmla="val 2717"/>
            </a:avLst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9" name="criteria"/>
          <p:cNvSpPr txBox="1"/>
          <p:nvPr/>
        </p:nvSpPr>
        <p:spPr>
          <a:xfrm>
            <a:off x="8503920" y="1463040"/>
            <a:ext cx="3108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</a:rPr>
              <a:t>Promotion criteria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</a:rPr>
              <a:t>Last two P4P ratings High or above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</a:rPr>
              <a:t>Total review score 80% or more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</a:rPr>
              <a:t>Three or more behaviours rated 4 or above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</a:rPr>
              <a:t>Two or more years in the current role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333"/>
                </a:solidFill>
              </a:rPr>
              <a:t>Clear leadership evidence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Feedback on the points system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Your suggestions shape the 2027 version. Honest answers are welcome.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S11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Recruiters, sourcers and team leads; support optional</a:t>
            </a:r>
            <a:endParaRPr lang="en-US" sz="1000" dirty="0"/>
          </a:p>
        </p:txBody>
      </p:sp>
      <p:graphicFrame>
        <p:nvGraphicFramePr>
          <p:cNvPr id="14" name="points-feedbac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6169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Your answer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What works well in the points system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What feels unfair or unclear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Name the category or rule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Points you would change, and to what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 example SG9+ from 3 to 4, because ...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Anything the system does not credit today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 example sourcing support, drives, stakeholder work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Is the revised cadence target realistic for your team?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Yes / No, and why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Other suggestions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Team leads only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Forms L1 and L2: your team results, your view of each recruiter, and your own leadership. Recruiters and support roles skip to Z1.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Team results and recruiter view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 row per team member. Your honest view helps plan coaching and support for 2027.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L1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Team leads only</a:t>
            </a:r>
            <a:endParaRPr lang="en-US" sz="1000" dirty="0"/>
          </a:p>
        </p:txBody>
      </p:sp>
      <p:graphicFrame>
        <p:nvGraphicFramePr>
          <p:cNvPr id="16" name="tea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731520"/>
                <a:gridCol w="2194560"/>
                <a:gridCol w="2103120"/>
                <a:gridCol w="2770632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Team member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Offers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Joined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Focus area for 2027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What you will do to develop them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Ready for more?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Name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Coaching, stretch requisitions, training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Yes / Not yet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Leadership, coaching and succession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Your own leadership in 2026 and your plan for 2027.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L2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Team leads only</a:t>
            </a:r>
            <a:endParaRPr lang="en-US" sz="1000" dirty="0"/>
          </a:p>
        </p:txBody>
      </p:sp>
      <p:graphicFrame>
        <p:nvGraphicFramePr>
          <p:cNvPr id="17" name="leadershi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82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Your answer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Team result vs target, and the main reasons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Coaching done in 2026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Number of 1:1s, case reviews, joint calls; with whom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Hiring-manager and business feedback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Forums, escalations, wins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Risks in your team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Attrition, workload, skill gaps, single points of failure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Succession and backup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Who can cover you, who covers whom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Your own development as a lead in 2027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Two or three actions with dates (also add them to S9)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Support and operations only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Forms O1 and O2: self-assessment against the four KPI and SLA pillars, and your monthly volumes. Others skip to Z1.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KPI and SLA self-assessment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Rate each pillar 1 to 5 against the scorecard bands, with the numbers that support it.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O1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Support / operations only</a:t>
            </a:r>
            <a:endParaRPr lang="en-US" sz="1000" dirty="0"/>
          </a:p>
        </p:txBody>
      </p:sp>
      <p:graphicFrame>
        <p:nvGraphicFramePr>
          <p:cNvPr id="19" name="pilla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1188720"/>
                <a:gridCol w="4050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Pillar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is measured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Self-rating (1–5)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Evidence (numbers, examples)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Timely completion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Share of activities within SLA; monthly deadlines and project milestones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 example 96% of reports by WD 3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Error-free operations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Data and billing accuracy, report corrections, billing disputes, payroll errors, audit findings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 example 2 billing corrections in 10 months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Activity volume and throughput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Monthly counts against expected volume; improvements completed; SOPs maintained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For example 120 BGV cases a month; 3 SOPs updated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Stakeholder and candidate experience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Recruiter and hiring-manager feedback; vendor and finance feedback; joiner feedback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Feedback received, with names or survey scores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</a:rPr>
                        <a:t>Compliance breach in 2026?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</a:rPr>
                        <a:t>Any data-privacy, BGV or payroll compliance breach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Yes / No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If yes, what happened and what changed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Monthly volumes and improvements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Typical monthly volume for each activity you own, and what you improved in 2026.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O2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Support / operations only</a:t>
            </a:r>
            <a:endParaRPr lang="en-US" sz="1000" dirty="0"/>
          </a:p>
        </p:txBody>
      </p:sp>
      <p:graphicFrame>
        <p:nvGraphicFramePr>
          <p:cNvPr id="20" name="volu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280160"/>
                <a:gridCol w="182880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Average per month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Within SLA (%)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Errors or corrections in 2026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Improvement made in 2026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</a:rPr>
                        <a:t>For example BGV initiation, offer letters, vendor billing, payroll inputs, TA report</a:t>
                      </a: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Sign-off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Confirm the submission is your own and accurate to the best of your knowledge.</a:t>
            </a:r>
            <a:endParaRPr lang="en-US" sz="1200" dirty="0"/>
          </a:p>
        </p:txBody>
      </p:sp>
      <p:sp>
        <p:nvSpPr>
          <p:cNvPr id="4" name="form-code"/>
          <p:cNvSpPr/>
          <p:nvPr/>
        </p:nvSpPr>
        <p:spPr>
          <a:xfrm>
            <a:off x="10332720" y="347472"/>
            <a:ext cx="1399032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form-code-text"/>
          <p:cNvSpPr txBox="1"/>
          <p:nvPr/>
        </p:nvSpPr>
        <p:spPr>
          <a:xfrm>
            <a:off x="10332720" y="347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Z1</a:t>
            </a:r>
            <a:endParaRPr lang="en-US" sz="1300" dirty="0"/>
          </a:p>
        </p:txBody>
      </p:sp>
      <p:sp>
        <p:nvSpPr>
          <p:cNvPr id="6" name="audience"/>
          <p:cNvSpPr txBox="1"/>
          <p:nvPr/>
        </p:nvSpPr>
        <p:spPr>
          <a:xfrm>
            <a:off x="8229600" y="841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7F8F"/>
                </a:solidFill>
              </a:rPr>
              <a:t>Everyone</a:t>
            </a:r>
            <a:endParaRPr lang="en-US" sz="1000" dirty="0"/>
          </a:p>
        </p:txBody>
      </p:sp>
      <p:graphicFrame>
        <p:nvGraphicFramePr>
          <p:cNvPr id="21" name="signo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VCNID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Date submitted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DD-MM-YYYY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Reviewed with my lead (recruiters)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Yes / No, and the date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</a:rPr>
                        <a:t>I confirm the information is accurate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Type your name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</a:tbl>
          </a:graphicData>
        </a:graphic>
      </p:graphicFrame>
      <p:sp>
        <p:nvSpPr>
          <p:cNvPr id="8" name="send-card"/>
          <p:cNvSpPr/>
          <p:nvPr/>
        </p:nvSpPr>
        <p:spPr>
          <a:xfrm>
            <a:off x="8138160" y="1325880"/>
            <a:ext cx="3593592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end-list"/>
          <p:cNvSpPr txBox="1"/>
          <p:nvPr/>
        </p:nvSpPr>
        <p:spPr>
          <a:xfrm>
            <a:off x="8321040" y="14630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227"/>
                </a:solidFill>
              </a:rPr>
              <a:t>Before you send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File name: Name_VCNID_SelfReview2026.pptx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All yellow cells for your role filled or cleared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Ratings are whole numbers 1–5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Send to the TA Head by the return date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 Self Review">
  <a:themeElements>
    <a:clrScheme name="TA Self Review">
      <a:dk1>
        <a:srgbClr val="1B2333"/>
      </a:dk1>
      <a:lt1>
        <a:srgbClr val="FFFFFF"/>
      </a:lt1>
      <a:dk2>
        <a:srgbClr val="1E2761"/>
      </a:dk2>
      <a:lt2>
        <a:srgbClr val="F3F1EA"/>
      </a:lt2>
      <a:accent1>
        <a:srgbClr val="1E2761"/>
      </a:accent1>
      <a:accent2>
        <a:srgbClr val="2A7F8F"/>
      </a:accent2>
      <a:accent3>
        <a:srgbClr val="C9A227"/>
      </a:accent3>
      <a:accent4>
        <a:srgbClr val="FFF6D6"/>
      </a:accent4>
      <a:accent5>
        <a:srgbClr val="6B7280"/>
      </a:accent5>
      <a:accent6>
        <a:srgbClr val="B4483C"/>
      </a:accent6>
      <a:hlink>
        <a:srgbClr val="2A7F8F"/>
      </a:hlink>
      <a:folHlink>
        <a:srgbClr val="6B7280"/>
      </a:folHlink>
    </a:clrScheme>
    <a:fontScheme name="TA Self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TA Self-Review 2026: submission template</dc:title>
  <dc:subject>PptxGenJS Presentation</dc:subject>
  <dc:creator>India TA</dc:creator>
  <cp:lastModifiedBy>India TA</cp:lastModifiedBy>
  <cp:revision>1</cp:revision>
  <dcterms:created xsi:type="dcterms:W3CDTF">2026-10-20T05:03:50Z</dcterms:created>
  <dcterms:modified xsi:type="dcterms:W3CDTF">2026-10-20T05:03:50Z</dcterms:modified>
</cp:coreProperties>
</file>